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733665e9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733665e9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34c2e1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34c2e1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34c2e1a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734c2e1a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34c2e1a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734c2e1a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34c2e1a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34c2e1a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34c2e1a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734c2e1a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734c2e1a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734c2e1a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12625"/>
            <a:ext cx="8520600" cy="22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KijaniKiosk Capstone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Track A — Infrastructure-First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Daisy Munga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August 2026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623400" y="3994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Project focus: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Safe, validated delivery of the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kk-payments</a:t>
            </a:r>
            <a:r>
              <a:rPr lang="en" sz="1400">
                <a:solidFill>
                  <a:schemeClr val="dk1"/>
                </a:solidFill>
              </a:rPr>
              <a:t> service through an isolated Kubernetes staging environment.</a:t>
            </a:r>
            <a:endParaRPr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09725" y="145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The Problem</a:t>
            </a:r>
            <a:endParaRPr sz="23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718275"/>
            <a:ext cx="8520600" cy="4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The Operational Gap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The original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kk-payments</a:t>
            </a:r>
            <a:r>
              <a:rPr lang="en" sz="5600">
                <a:solidFill>
                  <a:schemeClr val="dk1"/>
                </a:solidFill>
              </a:rPr>
              <a:t> deployment operated in a single Kubernetes environment without an isolated staging validation boundary.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</a:rPr>
              <a:t>This created a risk that an unhealthy application, failed rollout, or incorrect configuration could approach production without automated validation.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</a:rPr>
              <a:t>Track A Solution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Isolated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kijani-staging</a:t>
            </a:r>
            <a:r>
              <a:rPr lang="en" sz="5600">
                <a:solidFill>
                  <a:schemeClr val="dk1"/>
                </a:solidFill>
              </a:rPr>
              <a:t> Kubernetes namespace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Terraform infrastructure provisioning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Ansible configuration management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Jenkins delivery automation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Kubernetes rollout validation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Application smoke testing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Manual production approval gate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Lightweight staging monitoring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</a:rPr>
              <a:t>Goal:</a:t>
            </a:r>
            <a:r>
              <a:rPr lang="en" sz="5600">
                <a:solidFill>
                  <a:schemeClr val="dk1"/>
                </a:solidFill>
              </a:rPr>
              <a:t> prove that staging is healthy before production promotion is considered.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5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Architecture</a:t>
            </a:r>
            <a:endParaRPr sz="20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57025" y="2259050"/>
            <a:ext cx="8520600" cy="27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Components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GitHub:</a:t>
            </a:r>
            <a:r>
              <a:rPr lang="en" sz="1300">
                <a:solidFill>
                  <a:schemeClr val="dk1"/>
                </a:solidFill>
              </a:rPr>
              <a:t> source control and delivery trigger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Jenkins:</a:t>
            </a:r>
            <a:r>
              <a:rPr lang="en" sz="1300">
                <a:solidFill>
                  <a:schemeClr val="dk1"/>
                </a:solidFill>
              </a:rPr>
              <a:t> delivery orchestration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Terraform:</a:t>
            </a:r>
            <a:r>
              <a:rPr lang="en" sz="1300">
                <a:solidFill>
                  <a:schemeClr val="dk1"/>
                </a:solidFill>
              </a:rPr>
              <a:t> creates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kijani-staging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Ansible:</a:t>
            </a:r>
            <a:r>
              <a:rPr lang="en" sz="1300">
                <a:solidFill>
                  <a:schemeClr val="dk1"/>
                </a:solidFill>
              </a:rPr>
              <a:t> configures staging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Kubernetes:</a:t>
            </a:r>
            <a:r>
              <a:rPr lang="en" sz="1300">
                <a:solidFill>
                  <a:schemeClr val="dk1"/>
                </a:solidFill>
              </a:rPr>
              <a:t> application runtime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kk-payments:</a:t>
            </a:r>
            <a:r>
              <a:rPr lang="en" sz="1300">
                <a:solidFill>
                  <a:schemeClr val="dk1"/>
                </a:solidFill>
              </a:rPr>
              <a:t> payment service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Probes:</a:t>
            </a:r>
            <a:r>
              <a:rPr lang="en" sz="1300">
                <a:solidFill>
                  <a:schemeClr val="dk1"/>
                </a:solidFill>
              </a:rPr>
              <a:t> readiness and liveness validation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Smoke test:</a:t>
            </a:r>
            <a:r>
              <a:rPr lang="en" sz="1300">
                <a:solidFill>
                  <a:schemeClr val="dk1"/>
                </a:solidFill>
              </a:rPr>
              <a:t> confirms application health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Approval gate:</a:t>
            </a:r>
            <a:r>
              <a:rPr lang="en" sz="1300">
                <a:solidFill>
                  <a:schemeClr val="dk1"/>
                </a:solidFill>
              </a:rPr>
              <a:t> prevents uncontrolled promotion</a:t>
            </a:r>
            <a:endParaRPr sz="1300"/>
          </a:p>
        </p:txBody>
      </p:sp>
      <p:pic>
        <p:nvPicPr>
          <p:cNvPr id="69" name="Google Shape;69;p15" title="Screenshot From 2026-08-16 23-23-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7025"/>
            <a:ext cx="9143999" cy="16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57025" y="15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Key Technical Decision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723175"/>
            <a:ext cx="4260300" cy="42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Staging Validation Before Production Approval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What I chose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I chose to make </a:t>
            </a:r>
            <a:r>
              <a:rPr b="1" lang="en" sz="1400">
                <a:solidFill>
                  <a:schemeClr val="dk1"/>
                </a:solidFill>
              </a:rPr>
              <a:t>staging validation the safety boundary</a:t>
            </a:r>
            <a:r>
              <a:rPr lang="en" sz="1400">
                <a:solidFill>
                  <a:schemeClr val="dk1"/>
                </a:solidFill>
              </a:rPr>
              <a:t> before production approval.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The pipeline follows: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Deploy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↓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Kubernetes rollout validation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↓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Smoke test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↓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Manual production approval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What I did not choose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400">
                <a:solidFill>
                  <a:schemeClr val="dk1"/>
                </a:solidFill>
              </a:rPr>
              <a:t>I did </a:t>
            </a:r>
            <a:r>
              <a:rPr b="1" lang="en" sz="1400">
                <a:solidFill>
                  <a:schemeClr val="dk1"/>
                </a:solidFill>
              </a:rPr>
              <a:t>not</a:t>
            </a:r>
            <a:r>
              <a:rPr lang="en" sz="1400">
                <a:solidFill>
                  <a:schemeClr val="dk1"/>
                </a:solidFill>
              </a:rPr>
              <a:t> implement automatic production deployment.</a:t>
            </a:r>
            <a:endParaRPr sz="1400"/>
          </a:p>
        </p:txBody>
      </p:sp>
      <p:sp>
        <p:nvSpPr>
          <p:cNvPr id="76" name="Google Shape;76;p16"/>
          <p:cNvSpPr txBox="1"/>
          <p:nvPr/>
        </p:nvSpPr>
        <p:spPr>
          <a:xfrm>
            <a:off x="4715250" y="723175"/>
            <a:ext cx="3722700" cy="42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</a:t>
            </a:r>
            <a:r>
              <a:rPr b="1" lang="en">
                <a:solidFill>
                  <a:schemeClr val="dk1"/>
                </a:solidFill>
              </a:rPr>
              <a:t>y?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goal was to ensure that infrastructure health and application health were demonstrated before a human approved promotion.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Trade-off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Benefit:</a:t>
            </a:r>
            <a:r>
              <a:rPr lang="en">
                <a:solidFill>
                  <a:schemeClr val="dk1"/>
                </a:solidFill>
              </a:rPr>
              <a:t> safer and more controlled releases.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Cost:</a:t>
            </a:r>
            <a:r>
              <a:rPr lang="en">
                <a:solidFill>
                  <a:schemeClr val="dk1"/>
                </a:solidFill>
              </a:rPr>
              <a:t> production promotion remains a controlled placeholder rather than a completely automated deployment.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Production improvement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second pass would replace the placeholder with a real production deployment mechanism and stronger production infrastructure.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39300" y="12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Failure &amp; Recovery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50300"/>
            <a:ext cx="3633300" cy="42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Designing for Failure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I deliberately tested the deployment using an </a:t>
            </a:r>
            <a:r>
              <a:rPr b="1" lang="en" sz="2500">
                <a:solidFill>
                  <a:schemeClr val="dk1"/>
                </a:solidFill>
              </a:rPr>
              <a:t>invalid container image tag</a:t>
            </a:r>
            <a:r>
              <a:rPr lang="en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Expected failure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Invalid image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    ↓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Kubernetes cannot start healthy replicas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    ↓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Rollout validation fails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    ↓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Smoke test is not allowed to succeed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    ↓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Production approval is blocked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142"/>
              <a:buFont typeface="Arial"/>
              <a:buNone/>
            </a:pPr>
            <a:r>
              <a:t/>
            </a:r>
            <a:endParaRPr sz="14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4058150" y="537000"/>
            <a:ext cx="4917000" cy="4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8">
                <a:solidFill>
                  <a:schemeClr val="dk1"/>
                </a:solidFill>
              </a:rPr>
              <a:t>Recovery</a:t>
            </a:r>
            <a:endParaRPr b="1" sz="16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The known-good </a:t>
            </a:r>
            <a:r>
              <a:rPr lang="en" sz="14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kk-payments</a:t>
            </a:r>
            <a:r>
              <a:rPr lang="en" sz="1408">
                <a:solidFill>
                  <a:schemeClr val="dk1"/>
                </a:solidFill>
              </a:rPr>
              <a:t> image was restored.</a:t>
            </a:r>
            <a:endParaRPr sz="14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Kubernetes rollout was then verified again.</a:t>
            </a:r>
            <a:endParaRPr sz="14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8">
                <a:solidFill>
                  <a:schemeClr val="dk1"/>
                </a:solidFill>
              </a:rPr>
              <a:t>Why this matters</a:t>
            </a:r>
            <a:endParaRPr b="1" sz="16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A production delivery system should not only demonstrate:</a:t>
            </a:r>
            <a:endParaRPr sz="1408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"The deployment works."</a:t>
            </a:r>
            <a:endParaRPr sz="14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It should also demonstrate:</a:t>
            </a:r>
            <a:endParaRPr sz="1408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"The deployment stops safely when health cannot be established."</a:t>
            </a:r>
            <a:endParaRPr sz="14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8">
                <a:solidFill>
                  <a:schemeClr val="dk1"/>
                </a:solidFill>
              </a:rPr>
              <a:t>This failure-gate test was therefore an important part of the design.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27825"/>
            <a:ext cx="8520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Monitoring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221075" y="480350"/>
            <a:ext cx="5219100" cy="46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Staging Monitoring Signal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 implemented: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capstone/runtime/monitoring/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├── README.md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└── kk-payments-error-rate.sh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script evaluates the latest </a:t>
            </a:r>
            <a:r>
              <a:rPr b="1" lang="en" sz="1100">
                <a:solidFill>
                  <a:schemeClr val="dk1"/>
                </a:solidFill>
              </a:rPr>
              <a:t>100 log lines</a:t>
            </a:r>
            <a:r>
              <a:rPr lang="en" sz="1100">
                <a:solidFill>
                  <a:schemeClr val="dk1"/>
                </a:solidFill>
              </a:rPr>
              <a:t> and calculates the error rate.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Actual test result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# kk-payments staging monitoring summary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Namespace: kijani-staging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Application: kk-payments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Log window: 100 lines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Total log lines: 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Error log lines: 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Error rate: 0.00%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Threshold: 5%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Evaluation window: latest 100 log lines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Status: OK</a:t>
            </a:r>
            <a:endParaRPr sz="1100"/>
          </a:p>
        </p:txBody>
      </p:sp>
      <p:sp>
        <p:nvSpPr>
          <p:cNvPr id="90" name="Google Shape;90;p18"/>
          <p:cNvSpPr txBox="1"/>
          <p:nvPr/>
        </p:nvSpPr>
        <p:spPr>
          <a:xfrm>
            <a:off x="5678250" y="759050"/>
            <a:ext cx="3274200" cy="3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Interpretation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observed error rate was: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0.00%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configured threshold is: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5%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Therefore: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STATUS: OK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Limitation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is a lightweight log-based monitoring signal. A production system would add persistent metrics, dashboards, automated alerts, and incident notification.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12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AI Tooling &amp; Governance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389725"/>
            <a:ext cx="4154400" cy="46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How AI Was Used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What AI helped with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Kubernetes configuration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Jenkins pipeline troubleshooting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Terraform and Ansible guidance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Documentation structure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Debugging commands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What AI got wrong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AI-generated commands and configuration could not automatically know: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exact repository state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installed tool versions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actual Kubernetes resources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existing file paths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what had already been implemented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which requirements were actually satisfied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" name="Google Shape;97;p19"/>
          <p:cNvSpPr txBox="1"/>
          <p:nvPr/>
        </p:nvSpPr>
        <p:spPr>
          <a:xfrm>
            <a:off x="4783225" y="854225"/>
            <a:ext cx="4049100" cy="3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Human Review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Before applying suggestions, I: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Inspected the repository.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Checked the actual configuration.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Ran commands in the environment.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Verified Kubernetes behaviour.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Tested successful and failed deployment states.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Compared results against the capstone requirements.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Main lesson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AI was treated as an engineering assistant, not as an authority.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175750" y="10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Production Gaps &amp; What I Learned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175750" y="461725"/>
            <a:ext cx="5763000" cy="43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What Still Needs to Change?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Kubernetes infrastructure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Current:</a:t>
            </a:r>
            <a:r>
              <a:rPr lang="en" sz="1100">
                <a:solidFill>
                  <a:schemeClr val="dk1"/>
                </a:solidFill>
              </a:rPr>
              <a:t> single-node local Minikube.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Production:</a:t>
            </a:r>
            <a:r>
              <a:rPr lang="en" sz="1100">
                <a:solidFill>
                  <a:schemeClr val="dk1"/>
                </a:solidFill>
              </a:rPr>
              <a:t> resilient multi-node Kubernetes infrastructure.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Container supply chain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Current:</a:t>
            </a:r>
            <a:r>
              <a:rPr lang="en" sz="1100">
                <a:solidFill>
                  <a:schemeClr val="dk1"/>
                </a:solidFill>
              </a:rPr>
              <a:t> local Minikube registry/image workflow.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Production:</a:t>
            </a:r>
            <a:r>
              <a:rPr lang="en" sz="1100">
                <a:solidFill>
                  <a:schemeClr val="dk1"/>
                </a:solidFill>
              </a:rPr>
              <a:t> secured production registry, image scanning, controlled credentials.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Security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Current:</a:t>
            </a:r>
            <a:r>
              <a:rPr lang="en" sz="1100">
                <a:solidFill>
                  <a:schemeClr val="dk1"/>
                </a:solidFill>
              </a:rPr>
              <a:t> production hardening is limited.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Production:</a:t>
            </a:r>
            <a:r>
              <a:rPr lang="en" sz="1100">
                <a:solidFill>
                  <a:schemeClr val="dk1"/>
                </a:solidFill>
              </a:rPr>
              <a:t> TLS, stronger ingress controls, authentication/rate limiting where required.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"Can the system prove that the deployment is healthy, and does it stop safely when it cannot?"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That changed how I think about DevOps delivery.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5723650" y="394825"/>
            <a:ext cx="3371700" cy="4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Database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Current:</a:t>
            </a:r>
            <a:r>
              <a:rPr lang="en" sz="1100">
                <a:solidFill>
                  <a:schemeClr val="dk1"/>
                </a:solidFill>
              </a:rPr>
              <a:t> staging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DB_HOST</a:t>
            </a:r>
            <a:r>
              <a:rPr lang="en" sz="1100">
                <a:solidFill>
                  <a:schemeClr val="dk1"/>
                </a:solidFill>
              </a:rPr>
              <a:t> is configured, but the database workload is not provisioned by this Track A implementation.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Production:</a:t>
            </a:r>
            <a:r>
              <a:rPr lang="en" sz="1100">
                <a:solidFill>
                  <a:schemeClr val="dk1"/>
                </a:solidFill>
              </a:rPr>
              <a:t> provision and validate the actual database dependency.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5. Serverless receipt chain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repository currently does </a:t>
            </a:r>
            <a:r>
              <a:rPr b="1" lang="en" sz="1100">
                <a:solidFill>
                  <a:schemeClr val="dk1"/>
                </a:solidFill>
              </a:rPr>
              <a:t>not</a:t>
            </a:r>
            <a:r>
              <a:rPr lang="en" sz="1100">
                <a:solidFill>
                  <a:schemeClr val="dk1"/>
                </a:solidFill>
              </a:rPr>
              <a:t> contain the Week 10 serverless receipt-processing implementation.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is therefore an </a:t>
            </a:r>
            <a:r>
              <a:rPr b="1" lang="en" sz="1100">
                <a:solidFill>
                  <a:schemeClr val="dk1"/>
                </a:solidFill>
              </a:rPr>
              <a:t>explicit gap</a:t>
            </a:r>
            <a:r>
              <a:rPr lang="en" sz="1100">
                <a:solidFill>
                  <a:schemeClr val="dk1"/>
                </a:solidFill>
              </a:rPr>
              <a:t>, not something I am claiming as completed.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Most important lesson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Safe software delivery is more than deployment automation.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